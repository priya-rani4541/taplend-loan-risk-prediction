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sldIdLst>
    <p:sldId id="256" r:id="rId2"/>
    <p:sldId id="257" r:id="rId3"/>
    <p:sldId id="258" r:id="rId4"/>
    <p:sldId id="259" r:id="rId5"/>
    <p:sldId id="260" r:id="rId6"/>
    <p:sldId id="261" r:id="rId7"/>
    <p:sldId id="266"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244460-6A16-4D56-B6C0-4213D7D2F4E5}" v="4" dt="2026-10-14T14:15:38.6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 RANI" userId="395b64bfcc4636bc" providerId="LiveId" clId="{AE5CE115-187C-4CAB-A1D6-38E7A4D57FCB}"/>
    <pc:docChg chg="custSel modSld">
      <pc:chgData name="PRIYA RANI" userId="395b64bfcc4636bc" providerId="LiveId" clId="{AE5CE115-187C-4CAB-A1D6-38E7A4D57FCB}" dt="2026-10-14T14:15:38.642" v="10"/>
      <pc:docMkLst>
        <pc:docMk/>
      </pc:docMkLst>
      <pc:sldChg chg="modSp mod">
        <pc:chgData name="PRIYA RANI" userId="395b64bfcc4636bc" providerId="LiveId" clId="{AE5CE115-187C-4CAB-A1D6-38E7A4D57FCB}" dt="2026-10-14T14:15:38.642" v="10"/>
        <pc:sldMkLst>
          <pc:docMk/>
          <pc:sldMk cId="1563323740" sldId="260"/>
        </pc:sldMkLst>
        <pc:spChg chg="mod">
          <ac:chgData name="PRIYA RANI" userId="395b64bfcc4636bc" providerId="LiveId" clId="{AE5CE115-187C-4CAB-A1D6-38E7A4D57FCB}" dt="2026-10-14T14:15:38.642" v="10"/>
          <ac:spMkLst>
            <pc:docMk/>
            <pc:sldMk cId="1563323740" sldId="260"/>
            <ac:spMk id="3" creationId="{5D2C56F4-3EA5-4B03-A982-D2F1D5C8700F}"/>
          </ac:spMkLst>
        </pc:spChg>
      </pc:sldChg>
      <pc:sldChg chg="modSp mod">
        <pc:chgData name="PRIYA RANI" userId="395b64bfcc4636bc" providerId="LiveId" clId="{AE5CE115-187C-4CAB-A1D6-38E7A4D57FCB}" dt="2026-10-14T14:15:28.510" v="8" actId="27636"/>
        <pc:sldMkLst>
          <pc:docMk/>
          <pc:sldMk cId="4150638791" sldId="262"/>
        </pc:sldMkLst>
        <pc:spChg chg="mod">
          <ac:chgData name="PRIYA RANI" userId="395b64bfcc4636bc" providerId="LiveId" clId="{AE5CE115-187C-4CAB-A1D6-38E7A4D57FCB}" dt="2026-10-14T14:15:28.510" v="8" actId="27636"/>
          <ac:spMkLst>
            <pc:docMk/>
            <pc:sldMk cId="4150638791" sldId="262"/>
            <ac:spMk id="3" creationId="{54EF1262-0F52-49D9-A5B5-4BA6642697F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2450592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3855908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120456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1D8C7F-EE6D-4484-BB78-5446061E6613}"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3398961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1D8C7F-EE6D-4484-BB78-5446061E6613}" type="datetimeFigureOut">
              <a:rPr lang="en-IN" smtClean="0"/>
              <a:t>14-10-2026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3107383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5966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3257493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250876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1D8C7F-EE6D-4484-BB78-5446061E6613}"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54674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1D8C7F-EE6D-4484-BB78-5446061E6613}"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328811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336196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03745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2911954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18860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1890488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15334983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1D8C7F-EE6D-4484-BB78-5446061E6613}"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2546712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9A1D8C7F-EE6D-4484-BB78-5446061E6613}" type="datetimeFigureOut">
              <a:rPr lang="en-IN" smtClean="0"/>
              <a:t>14-10-2026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21A20264-F294-4CDE-AFED-A73D6828D988}" type="slidenum">
              <a:rPr lang="en-IN" smtClean="0"/>
              <a:t>‹#›</a:t>
            </a:fld>
            <a:endParaRPr lang="en-IN"/>
          </a:p>
        </p:txBody>
      </p:sp>
    </p:spTree>
    <p:extLst>
      <p:ext uri="{BB962C8B-B14F-4D97-AF65-F5344CB8AC3E}">
        <p14:creationId xmlns:p14="http://schemas.microsoft.com/office/powerpoint/2010/main" val="24736546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A1D8C7F-EE6D-4484-BB78-5446061E6613}" type="datetimeFigureOut">
              <a:rPr lang="en-IN" smtClean="0"/>
              <a:t>14-10-2026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1A20264-F294-4CDE-AFED-A73D6828D988}" type="slidenum">
              <a:rPr lang="en-IN" smtClean="0"/>
              <a:t>‹#›</a:t>
            </a:fld>
            <a:endParaRPr lang="en-IN"/>
          </a:p>
        </p:txBody>
      </p:sp>
    </p:spTree>
    <p:extLst>
      <p:ext uri="{BB962C8B-B14F-4D97-AF65-F5344CB8AC3E}">
        <p14:creationId xmlns:p14="http://schemas.microsoft.com/office/powerpoint/2010/main" val="1966604594"/>
      </p:ext>
    </p:extLst>
  </p:cSld>
  <p:clrMap bg1="dk1" tx1="lt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A86D4-30E0-1C84-A4EB-0C104964C77D}"/>
              </a:ext>
            </a:extLst>
          </p:cNvPr>
          <p:cNvSpPr>
            <a:spLocks noGrp="1"/>
          </p:cNvSpPr>
          <p:nvPr>
            <p:ph type="title"/>
          </p:nvPr>
        </p:nvSpPr>
        <p:spPr/>
        <p:txBody>
          <a:bodyPr>
            <a:normAutofit fontScale="90000"/>
          </a:bodyPr>
          <a:lstStyle/>
          <a:p>
            <a:r>
              <a:rPr lang="en-IN" b="1" dirty="0"/>
              <a:t>Loan Risk Prediction &amp; Credit Risk Analysis</a:t>
            </a:r>
            <a:br>
              <a:rPr lang="en-IN" dirty="0"/>
            </a:br>
            <a:endParaRPr lang="en-IN" dirty="0"/>
          </a:p>
        </p:txBody>
      </p:sp>
      <p:sp>
        <p:nvSpPr>
          <p:cNvPr id="3" name="Subtitle 2">
            <a:extLst>
              <a:ext uri="{FF2B5EF4-FFF2-40B4-BE49-F238E27FC236}">
                <a16:creationId xmlns:a16="http://schemas.microsoft.com/office/drawing/2014/main" id="{9A0FC503-9171-F15F-67B3-6F572C8D99B8}"/>
              </a:ext>
            </a:extLst>
          </p:cNvPr>
          <p:cNvSpPr>
            <a:spLocks noGrp="1"/>
          </p:cNvSpPr>
          <p:nvPr>
            <p:ph type="subTitle" idx="1"/>
          </p:nvPr>
        </p:nvSpPr>
        <p:spPr>
          <a:xfrm>
            <a:off x="1809135" y="3755922"/>
            <a:ext cx="8239433" cy="2366579"/>
          </a:xfrm>
        </p:spPr>
        <p:txBody>
          <a:bodyPr>
            <a:normAutofit/>
          </a:bodyPr>
          <a:lstStyle/>
          <a:p>
            <a:r>
              <a:rPr lang="en-IN" b="1" dirty="0"/>
              <a:t>Company:</a:t>
            </a:r>
            <a:r>
              <a:rPr lang="en-IN" dirty="0"/>
              <a:t> </a:t>
            </a:r>
            <a:r>
              <a:rPr lang="en-IN" dirty="0" err="1"/>
              <a:t>TapLend</a:t>
            </a:r>
            <a:endParaRPr lang="en-IN" dirty="0"/>
          </a:p>
          <a:p>
            <a:r>
              <a:rPr lang="en-IN" b="1" dirty="0"/>
              <a:t>Project Overview:</a:t>
            </a:r>
            <a:r>
              <a:rPr lang="en-IN" dirty="0"/>
              <a:t> Using customer application data to understand loan repayment risk and support better lending decisions.</a:t>
            </a:r>
          </a:p>
          <a:p>
            <a:r>
              <a:rPr lang="en-IN" b="1" dirty="0"/>
              <a:t>Presented by:</a:t>
            </a:r>
            <a:r>
              <a:rPr lang="en-IN" dirty="0"/>
              <a:t> Priya Rani</a:t>
            </a:r>
          </a:p>
          <a:p>
            <a:endParaRPr lang="en-IN" dirty="0"/>
          </a:p>
        </p:txBody>
      </p:sp>
    </p:spTree>
    <p:extLst>
      <p:ext uri="{BB962C8B-B14F-4D97-AF65-F5344CB8AC3E}">
        <p14:creationId xmlns:p14="http://schemas.microsoft.com/office/powerpoint/2010/main" val="55079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C466A-D2BD-47EC-83C4-9CEA4798B49F}"/>
              </a:ext>
            </a:extLst>
          </p:cNvPr>
          <p:cNvSpPr>
            <a:spLocks noGrp="1"/>
          </p:cNvSpPr>
          <p:nvPr>
            <p:ph type="title"/>
          </p:nvPr>
        </p:nvSpPr>
        <p:spPr/>
        <p:txBody>
          <a:bodyPr>
            <a:normAutofit/>
          </a:bodyPr>
          <a:lstStyle/>
          <a:p>
            <a:r>
              <a:rPr lang="en-IN" b="1" dirty="0"/>
              <a:t>Problem Statement</a:t>
            </a:r>
            <a:br>
              <a:rPr lang="en-IN" b="1" dirty="0"/>
            </a:br>
            <a:endParaRPr lang="en-IN" dirty="0"/>
          </a:p>
        </p:txBody>
      </p:sp>
      <p:sp>
        <p:nvSpPr>
          <p:cNvPr id="3" name="Content Placeholder 2">
            <a:extLst>
              <a:ext uri="{FF2B5EF4-FFF2-40B4-BE49-F238E27FC236}">
                <a16:creationId xmlns:a16="http://schemas.microsoft.com/office/drawing/2014/main" id="{C3B01C34-2ECE-AB27-DFFF-5CFA3B05D9E4}"/>
              </a:ext>
            </a:extLst>
          </p:cNvPr>
          <p:cNvSpPr>
            <a:spLocks noGrp="1"/>
          </p:cNvSpPr>
          <p:nvPr>
            <p:ph idx="1"/>
          </p:nvPr>
        </p:nvSpPr>
        <p:spPr/>
        <p:txBody>
          <a:bodyPr/>
          <a:lstStyle/>
          <a:p>
            <a:r>
              <a:rPr lang="en-IN" dirty="0"/>
              <a:t>When a company gives a loan to a customer, there is always a risk that the customer may not repay it properly. If the company approves loans without understanding this risk, it may face financial losses.</a:t>
            </a:r>
          </a:p>
          <a:p>
            <a:r>
              <a:rPr lang="en-IN" dirty="0"/>
              <a:t>The goal of this project is to study past loan records, identify patterns related to good and bad loans, and build a machine learning model that can help </a:t>
            </a:r>
            <a:r>
              <a:rPr lang="en-IN" dirty="0" err="1"/>
              <a:t>TapLend</a:t>
            </a:r>
            <a:r>
              <a:rPr lang="en-IN" dirty="0"/>
              <a:t> make better decisions when evaluating future loan applications.</a:t>
            </a:r>
          </a:p>
          <a:p>
            <a:endParaRPr lang="en-IN" dirty="0"/>
          </a:p>
        </p:txBody>
      </p:sp>
    </p:spTree>
    <p:extLst>
      <p:ext uri="{BB962C8B-B14F-4D97-AF65-F5344CB8AC3E}">
        <p14:creationId xmlns:p14="http://schemas.microsoft.com/office/powerpoint/2010/main" val="967673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FA38C-1D79-0213-498F-D68E8F0B2F25}"/>
              </a:ext>
            </a:extLst>
          </p:cNvPr>
          <p:cNvSpPr>
            <a:spLocks noGrp="1"/>
          </p:cNvSpPr>
          <p:nvPr>
            <p:ph type="title"/>
          </p:nvPr>
        </p:nvSpPr>
        <p:spPr/>
        <p:txBody>
          <a:bodyPr/>
          <a:lstStyle/>
          <a:p>
            <a:r>
              <a:rPr lang="en-IN" dirty="0"/>
              <a:t>Understanding the Dataset</a:t>
            </a:r>
          </a:p>
        </p:txBody>
      </p:sp>
      <p:sp>
        <p:nvSpPr>
          <p:cNvPr id="3" name="Content Placeholder 2">
            <a:extLst>
              <a:ext uri="{FF2B5EF4-FFF2-40B4-BE49-F238E27FC236}">
                <a16:creationId xmlns:a16="http://schemas.microsoft.com/office/drawing/2014/main" id="{B5273DB2-EEBA-2351-C66A-41240D635E32}"/>
              </a:ext>
            </a:extLst>
          </p:cNvPr>
          <p:cNvSpPr>
            <a:spLocks noGrp="1"/>
          </p:cNvSpPr>
          <p:nvPr>
            <p:ph idx="1"/>
          </p:nvPr>
        </p:nvSpPr>
        <p:spPr/>
        <p:txBody>
          <a:bodyPr/>
          <a:lstStyle/>
          <a:p>
            <a:r>
              <a:rPr lang="en-IN" dirty="0"/>
              <a:t>For this project, I worked with two datasets. The first dataset contains customer information collected during loan applications, while the second dataset contains loan records with their repayment-related labels.</a:t>
            </a:r>
          </a:p>
          <a:p>
            <a:r>
              <a:rPr lang="en-IN" dirty="0"/>
              <a:t>After matching the customer information with the loan outcomes, I obtained </a:t>
            </a:r>
            <a:r>
              <a:rPr lang="en-IN" b="1" dirty="0"/>
              <a:t>656 loan records belonging to 640 unique customers</a:t>
            </a:r>
            <a:r>
              <a:rPr lang="en-IN" dirty="0"/>
              <a:t>.</a:t>
            </a:r>
          </a:p>
          <a:p>
            <a:r>
              <a:rPr lang="en-IN" dirty="0"/>
              <a:t>The final dataset contains 354 Bad loan records and 302 Good loan records. I used these records to understand customer patterns and train the machine learning models.</a:t>
            </a:r>
          </a:p>
          <a:p>
            <a:endParaRPr lang="en-IN" dirty="0"/>
          </a:p>
        </p:txBody>
      </p:sp>
    </p:spTree>
    <p:extLst>
      <p:ext uri="{BB962C8B-B14F-4D97-AF65-F5344CB8AC3E}">
        <p14:creationId xmlns:p14="http://schemas.microsoft.com/office/powerpoint/2010/main" val="392715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AEC1A-AEA8-B304-3E86-2F159D941C55}"/>
              </a:ext>
            </a:extLst>
          </p:cNvPr>
          <p:cNvSpPr>
            <a:spLocks noGrp="1"/>
          </p:cNvSpPr>
          <p:nvPr>
            <p:ph type="title"/>
          </p:nvPr>
        </p:nvSpPr>
        <p:spPr/>
        <p:txBody>
          <a:bodyPr>
            <a:normAutofit fontScale="90000"/>
          </a:bodyPr>
          <a:lstStyle/>
          <a:p>
            <a:r>
              <a:rPr lang="en-IN" b="1" dirty="0"/>
              <a:t>Data Cleaning and Exploratory Analysis</a:t>
            </a:r>
            <a:br>
              <a:rPr lang="en-IN" b="1" dirty="0"/>
            </a:br>
            <a:endParaRPr lang="en-IN" dirty="0"/>
          </a:p>
        </p:txBody>
      </p:sp>
      <p:sp>
        <p:nvSpPr>
          <p:cNvPr id="3" name="Content Placeholder 2">
            <a:extLst>
              <a:ext uri="{FF2B5EF4-FFF2-40B4-BE49-F238E27FC236}">
                <a16:creationId xmlns:a16="http://schemas.microsoft.com/office/drawing/2014/main" id="{BAC372FB-B194-56FA-02D7-4D8DA19C7975}"/>
              </a:ext>
            </a:extLst>
          </p:cNvPr>
          <p:cNvSpPr>
            <a:spLocks noGrp="1"/>
          </p:cNvSpPr>
          <p:nvPr>
            <p:ph idx="1"/>
          </p:nvPr>
        </p:nvSpPr>
        <p:spPr/>
        <p:txBody>
          <a:bodyPr/>
          <a:lstStyle/>
          <a:p>
            <a:r>
              <a:rPr lang="en-IN" dirty="0"/>
              <a:t>Before building the model, I first checked the data for missing values, duplicate records, and inconsistencies.</a:t>
            </a:r>
          </a:p>
          <a:p>
            <a:r>
              <a:rPr lang="en-IN" dirty="0"/>
              <a:t>I found missing values in a few columns and handled them using suitable methods. I also standardized customer IDs and matched the two datasets carefully.</a:t>
            </a:r>
          </a:p>
          <a:p>
            <a:r>
              <a:rPr lang="en-IN" dirty="0"/>
              <a:t>During exploratory data analysis, I compared income, rent, credit scores, and other customer details across Good and Bad loan records. These comparisons helped me understand which features might be useful for predicting loan risk.</a:t>
            </a:r>
          </a:p>
          <a:p>
            <a:endParaRPr lang="en-IN" dirty="0"/>
          </a:p>
        </p:txBody>
      </p:sp>
    </p:spTree>
    <p:extLst>
      <p:ext uri="{BB962C8B-B14F-4D97-AF65-F5344CB8AC3E}">
        <p14:creationId xmlns:p14="http://schemas.microsoft.com/office/powerpoint/2010/main" val="4055059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E0F6-CE05-A2E9-A810-85948D36ED77}"/>
              </a:ext>
            </a:extLst>
          </p:cNvPr>
          <p:cNvSpPr>
            <a:spLocks noGrp="1"/>
          </p:cNvSpPr>
          <p:nvPr>
            <p:ph type="title"/>
          </p:nvPr>
        </p:nvSpPr>
        <p:spPr/>
        <p:txBody>
          <a:bodyPr>
            <a:normAutofit/>
          </a:bodyPr>
          <a:lstStyle/>
          <a:p>
            <a:r>
              <a:rPr lang="en-IN" b="1" dirty="0"/>
              <a:t>Feature Engineering and Model Preparation</a:t>
            </a:r>
          </a:p>
        </p:txBody>
      </p:sp>
      <p:sp>
        <p:nvSpPr>
          <p:cNvPr id="3" name="Content Placeholder 2">
            <a:extLst>
              <a:ext uri="{FF2B5EF4-FFF2-40B4-BE49-F238E27FC236}">
                <a16:creationId xmlns:a16="http://schemas.microsoft.com/office/drawing/2014/main" id="{5D2C56F4-3EA5-4B03-A982-D2F1D5C8700F}"/>
              </a:ext>
            </a:extLst>
          </p:cNvPr>
          <p:cNvSpPr>
            <a:spLocks noGrp="1"/>
          </p:cNvSpPr>
          <p:nvPr>
            <p:ph idx="1"/>
          </p:nvPr>
        </p:nvSpPr>
        <p:spPr/>
        <p:txBody>
          <a:bodyPr/>
          <a:lstStyle/>
          <a:p>
            <a:r>
              <a:rPr lang="en-IN" dirty="0"/>
              <a:t>After cleaning the data, I selected relevant customer features such as age, monthly income, requested loan amount, credit scores, rent, and banking details.</a:t>
            </a:r>
          </a:p>
          <a:p>
            <a:r>
              <a:rPr lang="en-IN" dirty="0"/>
              <a:t>I also explored additional features, including rent-to-income and payment-to-income ratios, to better understand customers' financial situations.</a:t>
            </a:r>
          </a:p>
          <a:p>
            <a:r>
              <a:rPr lang="en-IN" dirty="0"/>
              <a:t>Before training the models, I handled missing values, encoded categorical features using one-hot encoding, and scaled numerical features where required. I used Scikit-learn pipelines to ensure that the same preprocessing steps were applied consistently during training and testing.</a:t>
            </a:r>
          </a:p>
          <a:p>
            <a:endParaRPr lang="en-IN" dirty="0"/>
          </a:p>
        </p:txBody>
      </p:sp>
    </p:spTree>
    <p:extLst>
      <p:ext uri="{BB962C8B-B14F-4D97-AF65-F5344CB8AC3E}">
        <p14:creationId xmlns:p14="http://schemas.microsoft.com/office/powerpoint/2010/main" val="1563323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5F8A-B72A-144C-1159-3E33047E64DA}"/>
              </a:ext>
            </a:extLst>
          </p:cNvPr>
          <p:cNvSpPr>
            <a:spLocks noGrp="1"/>
          </p:cNvSpPr>
          <p:nvPr>
            <p:ph type="title"/>
          </p:nvPr>
        </p:nvSpPr>
        <p:spPr/>
        <p:txBody>
          <a:bodyPr/>
          <a:lstStyle/>
          <a:p>
            <a:r>
              <a:rPr lang="en-IN" dirty="0"/>
              <a:t>Machine Learning Models</a:t>
            </a:r>
          </a:p>
        </p:txBody>
      </p:sp>
      <p:sp>
        <p:nvSpPr>
          <p:cNvPr id="3" name="Content Placeholder 2">
            <a:extLst>
              <a:ext uri="{FF2B5EF4-FFF2-40B4-BE49-F238E27FC236}">
                <a16:creationId xmlns:a16="http://schemas.microsoft.com/office/drawing/2014/main" id="{A5D7B067-BB02-8FEB-FD54-959EA425CC97}"/>
              </a:ext>
            </a:extLst>
          </p:cNvPr>
          <p:cNvSpPr>
            <a:spLocks noGrp="1"/>
          </p:cNvSpPr>
          <p:nvPr>
            <p:ph idx="1"/>
          </p:nvPr>
        </p:nvSpPr>
        <p:spPr/>
        <p:txBody>
          <a:bodyPr>
            <a:normAutofit/>
          </a:bodyPr>
          <a:lstStyle/>
          <a:p>
            <a:r>
              <a:rPr lang="en-IN" dirty="0"/>
              <a:t>I trained two machine learning models: Logistic Regression and Random Forest.</a:t>
            </a:r>
          </a:p>
          <a:p>
            <a:r>
              <a:rPr lang="en-IN" dirty="0"/>
              <a:t>Logistic Regression provided a simple baseline for comparison. Random Forest helped capture more complex relationships between customer information and loan outcomes.</a:t>
            </a:r>
          </a:p>
          <a:p>
            <a:r>
              <a:rPr lang="en-IN" dirty="0"/>
              <a:t>To make the evaluation more reliable, I split the data by customer rather than randomly splitting individual loan records. This helped ensure that records belonging to the same customer did not appear in both the training and test sets.</a:t>
            </a:r>
          </a:p>
          <a:p>
            <a:r>
              <a:rPr lang="en-IN" dirty="0"/>
              <a:t>I then compared both models using accuracy, precision, recall, F1-score, ROC-AUC, and PR-AUC.</a:t>
            </a:r>
          </a:p>
          <a:p>
            <a:endParaRPr lang="en-IN" dirty="0"/>
          </a:p>
        </p:txBody>
      </p:sp>
    </p:spTree>
    <p:extLst>
      <p:ext uri="{BB962C8B-B14F-4D97-AF65-F5344CB8AC3E}">
        <p14:creationId xmlns:p14="http://schemas.microsoft.com/office/powerpoint/2010/main" val="2285142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49E98-177D-FBBD-A199-9690B9F550FB}"/>
              </a:ext>
            </a:extLst>
          </p:cNvPr>
          <p:cNvSpPr>
            <a:spLocks noGrp="1"/>
          </p:cNvSpPr>
          <p:nvPr>
            <p:ph type="title"/>
          </p:nvPr>
        </p:nvSpPr>
        <p:spPr>
          <a:xfrm>
            <a:off x="2143432" y="688258"/>
            <a:ext cx="7907402" cy="1164990"/>
          </a:xfrm>
        </p:spPr>
        <p:txBody>
          <a:bodyPr/>
          <a:lstStyle/>
          <a:p>
            <a:r>
              <a:rPr lang="en-IN" dirty="0"/>
              <a:t>Any Questions ? </a:t>
            </a:r>
          </a:p>
        </p:txBody>
      </p:sp>
      <p:sp>
        <p:nvSpPr>
          <p:cNvPr id="3" name="Content Placeholder 2">
            <a:extLst>
              <a:ext uri="{FF2B5EF4-FFF2-40B4-BE49-F238E27FC236}">
                <a16:creationId xmlns:a16="http://schemas.microsoft.com/office/drawing/2014/main" id="{CF7C8A1B-D938-5522-0212-6A9E428E35DA}"/>
              </a:ext>
            </a:extLst>
          </p:cNvPr>
          <p:cNvSpPr>
            <a:spLocks noGrp="1"/>
          </p:cNvSpPr>
          <p:nvPr>
            <p:ph idx="1"/>
          </p:nvPr>
        </p:nvSpPr>
        <p:spPr>
          <a:xfrm>
            <a:off x="1103312" y="5004753"/>
            <a:ext cx="8946541" cy="1243646"/>
          </a:xfrm>
        </p:spPr>
        <p:txBody>
          <a:bodyPr>
            <a:normAutofit/>
          </a:bodyPr>
          <a:lstStyle/>
          <a:p>
            <a:r>
              <a:rPr lang="en-IN" sz="5400" dirty="0"/>
              <a:t>Thankyou !</a:t>
            </a:r>
          </a:p>
        </p:txBody>
      </p:sp>
    </p:spTree>
    <p:extLst>
      <p:ext uri="{BB962C8B-B14F-4D97-AF65-F5344CB8AC3E}">
        <p14:creationId xmlns:p14="http://schemas.microsoft.com/office/powerpoint/2010/main" val="2933776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9DAC-9C92-1DE4-A26F-2A3AC439E381}"/>
              </a:ext>
            </a:extLst>
          </p:cNvPr>
          <p:cNvSpPr>
            <a:spLocks noGrp="1"/>
          </p:cNvSpPr>
          <p:nvPr>
            <p:ph type="title"/>
          </p:nvPr>
        </p:nvSpPr>
        <p:spPr/>
        <p:txBody>
          <a:bodyPr/>
          <a:lstStyle/>
          <a:p>
            <a:r>
              <a:rPr lang="en-IN" dirty="0"/>
              <a:t>Model Performance</a:t>
            </a:r>
          </a:p>
        </p:txBody>
      </p:sp>
      <p:sp>
        <p:nvSpPr>
          <p:cNvPr id="3" name="Content Placeholder 2">
            <a:extLst>
              <a:ext uri="{FF2B5EF4-FFF2-40B4-BE49-F238E27FC236}">
                <a16:creationId xmlns:a16="http://schemas.microsoft.com/office/drawing/2014/main" id="{54EF1262-0F52-49D9-A5B5-4BA6642697FA}"/>
              </a:ext>
            </a:extLst>
          </p:cNvPr>
          <p:cNvSpPr>
            <a:spLocks noGrp="1"/>
          </p:cNvSpPr>
          <p:nvPr>
            <p:ph idx="1"/>
          </p:nvPr>
        </p:nvSpPr>
        <p:spPr/>
        <p:txBody>
          <a:bodyPr>
            <a:normAutofit lnSpcReduction="10000"/>
          </a:bodyPr>
          <a:lstStyle/>
          <a:p>
            <a:r>
              <a:rPr lang="en-IN" dirty="0"/>
              <a:t>The Random Forest model estimates the probability that a loan belongs to the Bad category. I tested different classification thresholds to understand how they affect risk predictions.</a:t>
            </a:r>
          </a:p>
          <a:p>
            <a:r>
              <a:rPr lang="en-IN" dirty="0"/>
              <a:t>At a threshold of 0.40, the model classified 110 test-set records as High Risk and 20 as Lower Risk. It identified approximately 93.9% of the actual Bad loan records in the test set.</a:t>
            </a:r>
          </a:p>
          <a:p>
            <a:r>
              <a:rPr lang="en-IN" dirty="0"/>
              <a:t>However, the model also incorrectly classified several Good loan records as High Risk. This shows the trade-off between identifying potentially risky loans and avoiding incorrect risk classifications.</a:t>
            </a:r>
          </a:p>
          <a:p>
            <a:r>
              <a:rPr lang="en-IN" dirty="0"/>
              <a:t>The 0.40 threshold is an initial experiment, not a final decision rule. It should be validated using separate validation data and selected according to the lender's risk tolerance and the cost of incorrect decisions.</a:t>
            </a:r>
          </a:p>
          <a:p>
            <a:endParaRPr lang="en-IN" dirty="0"/>
          </a:p>
        </p:txBody>
      </p:sp>
    </p:spTree>
    <p:extLst>
      <p:ext uri="{BB962C8B-B14F-4D97-AF65-F5344CB8AC3E}">
        <p14:creationId xmlns:p14="http://schemas.microsoft.com/office/powerpoint/2010/main" val="4150638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65352-39B8-D099-8C68-92376D786970}"/>
              </a:ext>
            </a:extLst>
          </p:cNvPr>
          <p:cNvSpPr>
            <a:spLocks noGrp="1"/>
          </p:cNvSpPr>
          <p:nvPr>
            <p:ph type="title"/>
          </p:nvPr>
        </p:nvSpPr>
        <p:spPr/>
        <p:txBody>
          <a:bodyPr>
            <a:normAutofit fontScale="90000"/>
          </a:bodyPr>
          <a:lstStyle/>
          <a:p>
            <a:r>
              <a:rPr lang="en-IN" b="1" dirty="0"/>
              <a:t>Risk Classification and Threshold Analysis</a:t>
            </a:r>
            <a:br>
              <a:rPr lang="en-IN" b="1" dirty="0"/>
            </a:br>
            <a:endParaRPr lang="en-IN" dirty="0"/>
          </a:p>
        </p:txBody>
      </p:sp>
      <p:sp>
        <p:nvSpPr>
          <p:cNvPr id="3" name="Content Placeholder 2">
            <a:extLst>
              <a:ext uri="{FF2B5EF4-FFF2-40B4-BE49-F238E27FC236}">
                <a16:creationId xmlns:a16="http://schemas.microsoft.com/office/drawing/2014/main" id="{9A1A9E0F-8C33-F9EF-C9A8-70BAF8F9786E}"/>
              </a:ext>
            </a:extLst>
          </p:cNvPr>
          <p:cNvSpPr>
            <a:spLocks noGrp="1"/>
          </p:cNvSpPr>
          <p:nvPr>
            <p:ph idx="1"/>
          </p:nvPr>
        </p:nvSpPr>
        <p:spPr/>
        <p:txBody>
          <a:bodyPr/>
          <a:lstStyle/>
          <a:p>
            <a:r>
              <a:rPr lang="en-IN" dirty="0"/>
              <a:t>The Random Forest model estimates the probability that a loan belongs to the Bad category. I tested different probability thresholds to understand how the risk classification changes.</a:t>
            </a:r>
          </a:p>
          <a:p>
            <a:r>
              <a:rPr lang="en-IN" dirty="0"/>
              <a:t>At a threshold of 0.40, the model classified 110 test-set records as High Risk and 20 as Lower Risk.</a:t>
            </a:r>
          </a:p>
          <a:p>
            <a:r>
              <a:rPr lang="en-IN" dirty="0"/>
              <a:t>This threshold identified most of the Bad loan records in the test set, but it also incorrectly classified some Good loans as High Risk. Therefore, the threshold is only an initial experiment. It should be finalized after further validation and after considering the financial impact of approving a risky loan versus rejecting a reliable customer.</a:t>
            </a:r>
          </a:p>
          <a:p>
            <a:endParaRPr lang="en-IN" dirty="0"/>
          </a:p>
        </p:txBody>
      </p:sp>
    </p:spTree>
    <p:extLst>
      <p:ext uri="{BB962C8B-B14F-4D97-AF65-F5344CB8AC3E}">
        <p14:creationId xmlns:p14="http://schemas.microsoft.com/office/powerpoint/2010/main" val="375847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96721-F70C-4653-2186-D0B0C0A34984}"/>
              </a:ext>
            </a:extLst>
          </p:cNvPr>
          <p:cNvSpPr>
            <a:spLocks noGrp="1"/>
          </p:cNvSpPr>
          <p:nvPr>
            <p:ph type="title"/>
          </p:nvPr>
        </p:nvSpPr>
        <p:spPr/>
        <p:txBody>
          <a:bodyPr>
            <a:normAutofit/>
          </a:bodyPr>
          <a:lstStyle/>
          <a:p>
            <a:r>
              <a:rPr lang="en-IN" dirty="0"/>
              <a:t>Limitations and Additional Data Needed</a:t>
            </a:r>
          </a:p>
        </p:txBody>
      </p:sp>
      <p:sp>
        <p:nvSpPr>
          <p:cNvPr id="3" name="Content Placeholder 2">
            <a:extLst>
              <a:ext uri="{FF2B5EF4-FFF2-40B4-BE49-F238E27FC236}">
                <a16:creationId xmlns:a16="http://schemas.microsoft.com/office/drawing/2014/main" id="{55E1D649-BADA-7D25-47B2-5A87FE967A19}"/>
              </a:ext>
            </a:extLst>
          </p:cNvPr>
          <p:cNvSpPr>
            <a:spLocks noGrp="1"/>
          </p:cNvSpPr>
          <p:nvPr>
            <p:ph idx="1"/>
          </p:nvPr>
        </p:nvSpPr>
        <p:spPr/>
        <p:txBody>
          <a:bodyPr>
            <a:normAutofit fontScale="92500" lnSpcReduction="10000"/>
          </a:bodyPr>
          <a:lstStyle/>
          <a:p>
            <a:r>
              <a:rPr lang="en-IN" dirty="0"/>
              <a:t>This project has some important limitations. The dataset is relatively small, and the available records cover only a six-month period. The model's performance on this data may not represent how it will perform on future customers.</a:t>
            </a:r>
          </a:p>
          <a:p>
            <a:r>
              <a:rPr lang="en-IN" dirty="0"/>
              <a:t>Some customers also have multiple loan records, and their outcomes are not always the same. In addition, the available information may not capture a customer's complete financial situation.</a:t>
            </a:r>
          </a:p>
          <a:p>
            <a:r>
              <a:rPr lang="en-IN" dirty="0"/>
              <a:t>To improve the model, </a:t>
            </a:r>
            <a:r>
              <a:rPr lang="en-IN" dirty="0" err="1"/>
              <a:t>TapLend</a:t>
            </a:r>
            <a:r>
              <a:rPr lang="en-IN" dirty="0"/>
              <a:t> could collect additional information, such as verified income, existing debts, repayment history, debt-to-income ratio, employment stability, and records of missed or late payments, where legally permitted.</a:t>
            </a:r>
          </a:p>
          <a:p>
            <a:r>
              <a:rPr lang="en-IN" dirty="0"/>
              <a:t>The model should also be tested on newer data and checked for fairness before being used in real lending decisions.</a:t>
            </a:r>
          </a:p>
          <a:p>
            <a:endParaRPr lang="en-IN" dirty="0"/>
          </a:p>
        </p:txBody>
      </p:sp>
    </p:spTree>
    <p:extLst>
      <p:ext uri="{BB962C8B-B14F-4D97-AF65-F5344CB8AC3E}">
        <p14:creationId xmlns:p14="http://schemas.microsoft.com/office/powerpoint/2010/main" val="2421298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65E3-0F5E-DFB6-AF9E-A9C8116C7267}"/>
              </a:ext>
            </a:extLst>
          </p:cNvPr>
          <p:cNvSpPr>
            <a:spLocks noGrp="1"/>
          </p:cNvSpPr>
          <p:nvPr>
            <p:ph type="title"/>
          </p:nvPr>
        </p:nvSpPr>
        <p:spPr/>
        <p:txBody>
          <a:bodyPr>
            <a:normAutofit/>
          </a:bodyPr>
          <a:lstStyle/>
          <a:p>
            <a:r>
              <a:rPr lang="en-IN" dirty="0"/>
              <a:t>Conclusion and Recommendations</a:t>
            </a:r>
          </a:p>
        </p:txBody>
      </p:sp>
      <p:sp>
        <p:nvSpPr>
          <p:cNvPr id="3" name="Content Placeholder 2">
            <a:extLst>
              <a:ext uri="{FF2B5EF4-FFF2-40B4-BE49-F238E27FC236}">
                <a16:creationId xmlns:a16="http://schemas.microsoft.com/office/drawing/2014/main" id="{BEB5693C-46A2-A0D0-D184-508A677E16E5}"/>
              </a:ext>
            </a:extLst>
          </p:cNvPr>
          <p:cNvSpPr>
            <a:spLocks noGrp="1"/>
          </p:cNvSpPr>
          <p:nvPr>
            <p:ph idx="1"/>
          </p:nvPr>
        </p:nvSpPr>
        <p:spPr/>
        <p:txBody>
          <a:bodyPr>
            <a:normAutofit fontScale="92500" lnSpcReduction="10000"/>
          </a:bodyPr>
          <a:lstStyle/>
          <a:p>
            <a:r>
              <a:rPr lang="en-IN" dirty="0"/>
              <a:t>In this project, I </a:t>
            </a:r>
            <a:r>
              <a:rPr lang="en-IN" dirty="0" err="1"/>
              <a:t>analyzed</a:t>
            </a:r>
            <a:r>
              <a:rPr lang="en-IN" dirty="0"/>
              <a:t> customer application data and historical loan outcomes to explore how machine learning can support loan risk assessment.</a:t>
            </a:r>
          </a:p>
          <a:p>
            <a:r>
              <a:rPr lang="en-IN" dirty="0"/>
              <a:t>I compared Logistic Regression and Random Forest and found that Random Forest showed better recall for identifying Bad loan records in my test set.</a:t>
            </a:r>
          </a:p>
          <a:p>
            <a:r>
              <a:rPr lang="en-IN" dirty="0"/>
              <a:t>My recommendation is to use the model as a decision-support tool rather than an automatic loan approval or rejection system. Before real-world implementation, </a:t>
            </a:r>
            <a:r>
              <a:rPr lang="en-IN" dirty="0" err="1"/>
              <a:t>TapLend</a:t>
            </a:r>
            <a:r>
              <a:rPr lang="en-IN" dirty="0"/>
              <a:t> should validate the model on new data, choose an appropriate risk threshold based on business costs, and regularly monitor its performance.</a:t>
            </a:r>
          </a:p>
          <a:p>
            <a:r>
              <a:rPr lang="en-IN" dirty="0"/>
              <a:t>This project demonstrates how data analysis and machine learning can help a lending company make more informed and responsible lending decisions.</a:t>
            </a:r>
          </a:p>
          <a:p>
            <a:endParaRPr lang="en-IN" dirty="0"/>
          </a:p>
        </p:txBody>
      </p:sp>
    </p:spTree>
    <p:extLst>
      <p:ext uri="{BB962C8B-B14F-4D97-AF65-F5344CB8AC3E}">
        <p14:creationId xmlns:p14="http://schemas.microsoft.com/office/powerpoint/2010/main" val="4974699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TotalTime>
  <Words>1012</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vt:lpstr>
      <vt:lpstr>Loan Risk Prediction &amp; Credit Risk Analysis </vt:lpstr>
      <vt:lpstr>Problem Statement </vt:lpstr>
      <vt:lpstr>Understanding the Dataset</vt:lpstr>
      <vt:lpstr>Data Cleaning and Exploratory Analysis </vt:lpstr>
      <vt:lpstr>Feature Engineering and Model Preparation</vt:lpstr>
      <vt:lpstr>Machine Learning Models</vt:lpstr>
      <vt:lpstr>Any Questions ? </vt:lpstr>
      <vt:lpstr>Model Performance</vt:lpstr>
      <vt:lpstr>Risk Classification and Threshold Analysis </vt:lpstr>
      <vt:lpstr>Limitations and Additional Data Needed</vt:lpstr>
      <vt:lpstr>Conclusion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 RANI</dc:creator>
  <cp:lastModifiedBy>PRIYA RANI</cp:lastModifiedBy>
  <cp:revision>2</cp:revision>
  <dcterms:created xsi:type="dcterms:W3CDTF">2026-10-14T14:01:43Z</dcterms:created>
  <dcterms:modified xsi:type="dcterms:W3CDTF">2026-10-14T14:16:50Z</dcterms:modified>
</cp:coreProperties>
</file>